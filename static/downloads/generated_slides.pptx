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the class and introduce the lecture series. Emphasise that LLMs are the backbone of modern NLP and will be explored from theory to practice. Mention the relevance to research and industry, and outline the agenda for the next ten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LLMs formally as statistical language models with billions of parameters. Highlight the diversity of training data (web pages, books, code) and the breadth of downstream tasks they can perform without task‑specific architecture changes. Briefly compare the listed examples in terms of scale and licensing.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societal and economic impact of LLMs. Cite case studies where LLMs have reduced manual effort (e.g., code assistants, legal contract review). Stress the shift from narrow AI to foundation models that can be adapted to many problems, reducing development time and data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core components of the transformer: multi‑head attention, feed‑forward layers, layer normalisation, residual connections. Explain why self‑attention replaces recurrence and why this leads to better scaling properties. Show a schematic diagram to visualise data 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loss function (cross‑entropy) and why predicting the next token forces the model to capture syntactic and semantic patterns. Mention scaling laws (model size, data, compute) and how they correlate with performance. Highlight that emergent behaviours are not programmed but discovered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how raw text is converted into discrete tokens and then into continuous vectors. Discuss trade‑offs of vocabulary size versus token length, and show examples of how a word like 'unbelievable' is split. Explain the role of embeddings as the interface between discrete language and continuous neural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a step‑by‑step generation example, showing probability scores and how different decoding methods affect output quality. Explain practical considerations: latency, token limits, and how to enforce constraints (e.g., stop tokens). Mention recent advances such as contrastive decoding.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pipeline from a pre‑trained LLM to an assistant‑grade model. Explain how human annotations are transformed into a reward signal and the role of proximal policy optimisation. Discuss evaluation metrics for alignment (e.g., helpfulness, harmlessness) and current research challenges.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Provide concrete case studies for each application area, citing recent deployments and performance numbers where available. Emphasise the distinction between zero‑shot usage and fine‑tuned specialised solutions. Highlight interdisciplinary impact – e.g., how LLMs assist in scientific literature review.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an honest appraisal of open problems. Discuss current research avenues such as retrieval‑augmented models (RAG), instruction‑tuned safety layers, and parameter‑efficient fine‑tuning (PEFT). Invite students to consider thesis topics that address these gaps, and preview the next lecture on evaluation methodologies.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Large Language Models</a:t>
            </a:r>
          </a:p>
        </p:txBody>
      </p:sp>
      <p:sp>
        <p:nvSpPr>
          <p:cNvPr id="3" name="Subtitle 2"/>
          <p:cNvSpPr>
            <a:spLocks noGrp="1"/>
          </p:cNvSpPr>
          <p:nvPr>
            <p:ph type="subTitle" idx="1"/>
          </p:nvPr>
        </p:nvSpPr>
        <p:spPr/>
        <p:txBody>
          <a:bodyPr/>
          <a:lstStyle/>
          <a:p>
            <a:r>
              <a:t>NUST</a:t>
            </a:r>
          </a:p>
          <a:p>
            <a:r>
              <a:t>LLM231</a:t>
            </a:r>
          </a:p>
          <a:p>
            <a:r>
              <a:t>Lecturer: Raheel Anwar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Large Language Models</a:t>
            </a:r>
          </a:p>
        </p:txBody>
      </p:sp>
      <p:sp>
        <p:nvSpPr>
          <p:cNvPr id="3" name="Content Placeholder 2"/>
          <p:cNvSpPr>
            <a:spLocks noGrp="1"/>
          </p:cNvSpPr>
          <p:nvPr>
            <p:ph idx="1"/>
          </p:nvPr>
        </p:nvSpPr>
        <p:spPr>
          <a:xfrm>
            <a:off x="457200" y="1828800"/>
            <a:ext cx="4572000" cy="0"/>
          </a:xfrm>
        </p:spPr>
        <p:txBody>
          <a:bodyPr wrap="square"/>
          <a:lstStyle/>
          <a:p/>
          <a:p>
            <a:pPr>
              <a:defRPr sz="1800"/>
            </a:pPr>
            <a:r>
              <a:t>How Machines Understand and Generate Language</a:t>
            </a:r>
          </a:p>
          <a:p>
            <a:pPr>
              <a:defRPr sz="1800"/>
            </a:pPr>
            <a:r>
              <a:t>Concepts, Mechanisms, and Applications</a:t>
            </a:r>
          </a:p>
          <a:p>
            <a:pPr>
              <a:defRPr sz="1800"/>
            </a:pPr>
            <a:r>
              <a:t>Course: LLM231 – Advanced Topics in Natural Language Processing</a:t>
            </a:r>
          </a:p>
        </p:txBody>
      </p:sp>
      <p:pic>
        <p:nvPicPr>
          <p:cNvPr id="4" name="Picture 3" descr="image.jpg"/>
          <p:cNvPicPr>
            <a:picLocks noChangeAspect="1"/>
          </p:cNvPicPr>
          <p:nvPr/>
        </p:nvPicPr>
        <p:blipFill>
          <a:blip r:embed="rId2"/>
          <a:stretch>
            <a:fillRect/>
          </a:stretch>
        </p:blipFill>
        <p:spPr>
          <a:xfrm>
            <a:off x="5303520" y="1828800"/>
            <a:ext cx="3657600" cy="3657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Are LLMs?</a:t>
            </a:r>
          </a:p>
        </p:txBody>
      </p:sp>
      <p:sp>
        <p:nvSpPr>
          <p:cNvPr id="3" name="Content Placeholder 2"/>
          <p:cNvSpPr>
            <a:spLocks noGrp="1"/>
          </p:cNvSpPr>
          <p:nvPr>
            <p:ph idx="1"/>
          </p:nvPr>
        </p:nvSpPr>
        <p:spPr>
          <a:xfrm>
            <a:off x="457200" y="1828800"/>
            <a:ext cx="4572000" cy="0"/>
          </a:xfrm>
        </p:spPr>
        <p:txBody>
          <a:bodyPr wrap="square"/>
          <a:lstStyle/>
          <a:p/>
          <a:p>
            <a:pPr>
              <a:defRPr sz="1800"/>
            </a:pPr>
            <a:r>
              <a:t>AI models trained on massive, heterogeneous text corpora (hundreds of billions of tokens)</a:t>
            </a:r>
          </a:p>
          <a:p>
            <a:pPr>
              <a:defRPr sz="1800"/>
            </a:pPr>
            <a:r>
              <a:t>Capable of generation, summarisation, translation, question answering, and reasoning</a:t>
            </a:r>
          </a:p>
          <a:p>
            <a:pPr>
              <a:defRPr sz="1800"/>
            </a:pPr>
            <a:r>
              <a:t>Representative families: GPT‑4, Claude, LLaMA‑2, Gemini; all built on the transformer paradigm</a:t>
            </a:r>
          </a:p>
        </p:txBody>
      </p:sp>
      <p:pic>
        <p:nvPicPr>
          <p:cNvPr id="4" name="Picture 3" descr="image.png"/>
          <p:cNvPicPr>
            <a:picLocks noChangeAspect="1"/>
          </p:cNvPicPr>
          <p:nvPr/>
        </p:nvPicPr>
        <p:blipFill>
          <a:blip r:embed="rId2"/>
          <a:stretch>
            <a:fillRect/>
          </a:stretch>
        </p:blipFill>
        <p:spPr>
          <a:xfrm>
            <a:off x="5303520" y="1828800"/>
            <a:ext cx="3657600" cy="514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LLMs Matter</a:t>
            </a:r>
          </a:p>
        </p:txBody>
      </p:sp>
      <p:sp>
        <p:nvSpPr>
          <p:cNvPr id="3" name="Content Placeholder 2"/>
          <p:cNvSpPr>
            <a:spLocks noGrp="1"/>
          </p:cNvSpPr>
          <p:nvPr>
            <p:ph idx="1"/>
          </p:nvPr>
        </p:nvSpPr>
        <p:spPr>
          <a:xfrm>
            <a:off x="457200" y="1828800"/>
            <a:ext cx="4572000" cy="0"/>
          </a:xfrm>
        </p:spPr>
        <p:txBody>
          <a:bodyPr wrap="square"/>
          <a:lstStyle/>
          <a:p/>
          <a:p>
            <a:pPr>
              <a:defRPr sz="1800"/>
            </a:pPr>
            <a:r>
              <a:t>Enable natural, conversational human–computer interaction at scale</a:t>
            </a:r>
          </a:p>
          <a:p>
            <a:pPr>
              <a:defRPr sz="1800"/>
            </a:pPr>
            <a:r>
              <a:t>Automate knowledge‑intensive tasks: drafting, coding, data extraction</a:t>
            </a:r>
          </a:p>
          <a:p>
            <a:pPr>
              <a:defRPr sz="1800"/>
            </a:pPr>
            <a:r>
              <a:t>Provide a general‑purpose reasoning substrate across scientific, legal, and creative domains</a:t>
            </a:r>
          </a:p>
          <a:p>
            <a:pPr>
              <a:defRPr sz="1800"/>
            </a:pPr>
            <a:r>
              <a:t>Serve as foundational models for downstream specialised systems</a:t>
            </a:r>
          </a:p>
        </p:txBody>
      </p:sp>
      <p:pic>
        <p:nvPicPr>
          <p:cNvPr id="4" name="Picture 3" descr="image.jpg"/>
          <p:cNvPicPr>
            <a:picLocks noChangeAspect="1"/>
          </p:cNvPicPr>
          <p:nvPr/>
        </p:nvPicPr>
        <p:blipFill>
          <a:blip r:embed="rId2"/>
          <a:stretch>
            <a:fillRect/>
          </a:stretch>
        </p:blipFill>
        <p:spPr>
          <a:xfrm>
            <a:off x="5303520" y="1828800"/>
            <a:ext cx="3657600" cy="4876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Transformer Architecture</a:t>
            </a:r>
          </a:p>
        </p:txBody>
      </p:sp>
      <p:sp>
        <p:nvSpPr>
          <p:cNvPr id="3" name="Content Placeholder 2"/>
          <p:cNvSpPr>
            <a:spLocks noGrp="1"/>
          </p:cNvSpPr>
          <p:nvPr>
            <p:ph idx="1"/>
          </p:nvPr>
        </p:nvSpPr>
        <p:spPr>
          <a:xfrm>
            <a:off x="457200" y="1828800"/>
            <a:ext cx="8229600" cy="0"/>
          </a:xfrm>
        </p:spPr>
        <p:txBody>
          <a:bodyPr wrap="square"/>
          <a:lstStyle/>
          <a:p/>
          <a:p>
            <a:pPr>
              <a:defRPr sz="2400"/>
            </a:pPr>
            <a:r>
              <a:t>Self‑attention: each token attends to every other token, learning context‑dependent representations</a:t>
            </a:r>
          </a:p>
          <a:p>
            <a:pPr>
              <a:defRPr sz="2400"/>
            </a:pPr>
            <a:r>
              <a:t>Parallelizable computation enables training on very long sequences</a:t>
            </a:r>
          </a:p>
          <a:p>
            <a:pPr>
              <a:defRPr sz="2400"/>
            </a:pPr>
            <a:r>
              <a:t>Two main configurations: encoder‑decoder (e.g., T5) and decoder‑only (e.g., GPT)</a:t>
            </a:r>
          </a:p>
          <a:p>
            <a:pPr>
              <a:defRPr sz="2400"/>
            </a:pPr>
            <a:r>
              <a:t>Positional encodings inject order information into otherwise permutation‑invariant attention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LLMs Learn</a:t>
            </a:r>
          </a:p>
        </p:txBody>
      </p:sp>
      <p:sp>
        <p:nvSpPr>
          <p:cNvPr id="3" name="Content Placeholder 2"/>
          <p:cNvSpPr>
            <a:spLocks noGrp="1"/>
          </p:cNvSpPr>
          <p:nvPr>
            <p:ph idx="1"/>
          </p:nvPr>
        </p:nvSpPr>
        <p:spPr>
          <a:xfrm>
            <a:off x="457200" y="1828800"/>
            <a:ext cx="4572000" cy="0"/>
          </a:xfrm>
        </p:spPr>
        <p:txBody>
          <a:bodyPr wrap="square"/>
          <a:lstStyle/>
          <a:p/>
          <a:p>
            <a:pPr>
              <a:defRPr sz="1800"/>
            </a:pPr>
            <a:r>
              <a:t>Pre‑training objective: next‑token prediction (autoregressive) or masked token reconstruction (encoder‑decoder)</a:t>
            </a:r>
          </a:p>
          <a:p>
            <a:pPr>
              <a:defRPr sz="1800"/>
            </a:pPr>
            <a:r>
              <a:t>Optimization via stochastic gradient descent on massive corpora (web crawl, Common Crawl, books, code)</a:t>
            </a:r>
          </a:p>
          <a:p>
            <a:pPr>
              <a:defRPr sz="1800"/>
            </a:pPr>
            <a:r>
              <a:t>Emergent abilities arise from statistical regularities: grammar, world facts, multi‑step reasoning</a:t>
            </a:r>
          </a:p>
          <a:p>
            <a:pPr>
              <a:defRPr sz="1800"/>
            </a:pPr>
            <a:r>
              <a:t>No hand‑crafted rules; knowledge is implicit in the weight matrix</a:t>
            </a:r>
          </a:p>
        </p:txBody>
      </p:sp>
      <p:pic>
        <p:nvPicPr>
          <p:cNvPr id="4" name="Picture 3" descr="image.png"/>
          <p:cNvPicPr>
            <a:picLocks noChangeAspect="1"/>
          </p:cNvPicPr>
          <p:nvPr/>
        </p:nvPicPr>
        <p:blipFill>
          <a:blip r:embed="rId2"/>
          <a:stretch>
            <a:fillRect/>
          </a:stretch>
        </p:blipFill>
        <p:spPr>
          <a:xfrm>
            <a:off x="5303520" y="1828800"/>
            <a:ext cx="3657600" cy="197510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Tokens and Embeddings</a:t>
            </a:r>
          </a:p>
        </p:txBody>
      </p:sp>
      <p:sp>
        <p:nvSpPr>
          <p:cNvPr id="3" name="Content Placeholder 2"/>
          <p:cNvSpPr>
            <a:spLocks noGrp="1"/>
          </p:cNvSpPr>
          <p:nvPr>
            <p:ph idx="1"/>
          </p:nvPr>
        </p:nvSpPr>
        <p:spPr>
          <a:xfrm>
            <a:off x="457200" y="1828800"/>
            <a:ext cx="4572000" cy="0"/>
          </a:xfrm>
        </p:spPr>
        <p:txBody>
          <a:bodyPr wrap="square"/>
          <a:lstStyle/>
          <a:p/>
          <a:p>
            <a:pPr>
              <a:defRPr sz="1800"/>
            </a:pPr>
            <a:r>
              <a:t>Tokenisation strategies: byte‑pair encoding (BPE), WordPiece, SentencePiece – subword granularity balances vocabulary size and coverage</a:t>
            </a:r>
          </a:p>
          <a:p>
            <a:pPr>
              <a:defRPr sz="1800"/>
            </a:pPr>
            <a:r>
              <a:t>Each token mapped to a dense vector (embedding) that encodes lexical semantics</a:t>
            </a:r>
          </a:p>
          <a:p>
            <a:pPr>
              <a:defRPr sz="1800"/>
            </a:pPr>
            <a:r>
              <a:t>Positional embeddings (learned or sinusoidal) add sequence order information</a:t>
            </a:r>
          </a:p>
          <a:p>
            <a:pPr>
              <a:defRPr sz="1800"/>
            </a:pPr>
            <a:r>
              <a:t>Embedding matrix is jointly learned with the rest of the model, enabling semantic compositionality</a:t>
            </a:r>
          </a:p>
        </p:txBody>
      </p:sp>
      <p:pic>
        <p:nvPicPr>
          <p:cNvPr id="4" name="Picture 3" descr="image.png"/>
          <p:cNvPicPr>
            <a:picLocks noChangeAspect="1"/>
          </p:cNvPicPr>
          <p:nvPr/>
        </p:nvPicPr>
        <p:blipFill>
          <a:blip r:embed="rId2"/>
          <a:stretch>
            <a:fillRect/>
          </a:stretch>
        </p:blipFill>
        <p:spPr>
          <a:xfrm>
            <a:off x="5303520" y="1828800"/>
            <a:ext cx="3657600" cy="19751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Inference: How LLMs Generate Text</a:t>
            </a:r>
          </a:p>
        </p:txBody>
      </p:sp>
      <p:sp>
        <p:nvSpPr>
          <p:cNvPr id="3" name="Content Placeholder 2"/>
          <p:cNvSpPr>
            <a:spLocks noGrp="1"/>
          </p:cNvSpPr>
          <p:nvPr>
            <p:ph idx="1"/>
          </p:nvPr>
        </p:nvSpPr>
        <p:spPr>
          <a:xfrm>
            <a:off x="457200" y="1828800"/>
            <a:ext cx="8229600" cy="0"/>
          </a:xfrm>
        </p:spPr>
        <p:txBody>
          <a:bodyPr wrap="square"/>
          <a:lstStyle/>
          <a:p/>
          <a:p>
            <a:pPr>
              <a:defRPr sz="2400"/>
            </a:pPr>
            <a:r>
              <a:t>At inference time the model computes a probability distribution over the vocabulary for the next token</a:t>
            </a:r>
          </a:p>
          <a:p>
            <a:pPr>
              <a:defRPr sz="2400"/>
            </a:pPr>
            <a:r>
              <a:t>Decoding strategies: greedy (max‑probability), stochastic sampling (top‑k, nucleus), beam search (explores multiple hypotheses)</a:t>
            </a:r>
          </a:p>
          <a:p>
            <a:pPr>
              <a:defRPr sz="2400"/>
            </a:pPr>
            <a:r>
              <a:t>Temperature parameter controls distribution sharpness – higher values increase randomness/creativity</a:t>
            </a:r>
          </a:p>
          <a:p>
            <a:pPr>
              <a:defRPr sz="2400"/>
            </a:pPr>
            <a:r>
              <a:t>Attention mechanism retains long‑range context, allowing coherent multi‑sentence generation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Fine‑Tuning and Alignment</a:t>
            </a:r>
          </a:p>
        </p:txBody>
      </p:sp>
      <p:sp>
        <p:nvSpPr>
          <p:cNvPr id="3" name="Content Placeholder 2"/>
          <p:cNvSpPr>
            <a:spLocks noGrp="1"/>
          </p:cNvSpPr>
          <p:nvPr>
            <p:ph idx="1"/>
          </p:nvPr>
        </p:nvSpPr>
        <p:spPr>
          <a:xfrm>
            <a:off x="457200" y="1828800"/>
            <a:ext cx="8229600" cy="0"/>
          </a:xfrm>
        </p:spPr>
        <p:txBody>
          <a:bodyPr wrap="square"/>
          <a:lstStyle/>
          <a:p/>
          <a:p>
            <a:pPr>
              <a:defRPr sz="2400"/>
            </a:pPr>
            <a:r>
              <a:t>Supervised Fine‑Tuning (SFT): task‑specific datasets refine the base model for higher accuracy</a:t>
            </a:r>
          </a:p>
          <a:p>
            <a:pPr>
              <a:defRPr sz="2400"/>
            </a:pPr>
            <a:r>
              <a:t>Reinforcement Learning from Human Feedback (RLHF): reward model trained on preference data, policy updated via PPO</a:t>
            </a:r>
          </a:p>
          <a:p>
            <a:pPr>
              <a:defRPr sz="2400"/>
            </a:pPr>
            <a:r>
              <a:t>Preference optimisation methods (DPO, RPO) reduce reliance on reinforcement loops while preserving alignment</a:t>
            </a:r>
          </a:p>
          <a:p>
            <a:pPr>
              <a:defRPr sz="2400"/>
            </a:pPr>
            <a:r>
              <a:t>Goal: improve safety, factuality, and adherence to user intent without degrading language competence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Applications of LLMs</a:t>
            </a:r>
          </a:p>
        </p:txBody>
      </p:sp>
      <p:sp>
        <p:nvSpPr>
          <p:cNvPr id="3" name="Content Placeholder 2"/>
          <p:cNvSpPr>
            <a:spLocks noGrp="1"/>
          </p:cNvSpPr>
          <p:nvPr>
            <p:ph idx="1"/>
          </p:nvPr>
        </p:nvSpPr>
        <p:spPr>
          <a:xfrm>
            <a:off x="457200" y="1828800"/>
            <a:ext cx="4572000" cy="0"/>
          </a:xfrm>
        </p:spPr>
        <p:txBody>
          <a:bodyPr wrap="square"/>
          <a:lstStyle/>
          <a:p/>
          <a:p>
            <a:pPr>
              <a:defRPr sz="1800"/>
            </a:pPr>
            <a:r>
              <a:t>Conversational agents and virtual assistants (customer support, mental‑health chatbots)</a:t>
            </a:r>
          </a:p>
          <a:p>
            <a:pPr>
              <a:defRPr sz="1800"/>
            </a:pPr>
            <a:r>
              <a:t>Code synthesis and debugging tools (Copilot, Code Llama)</a:t>
            </a:r>
          </a:p>
          <a:p>
            <a:pPr>
              <a:defRPr sz="1800"/>
            </a:pPr>
            <a:r>
              <a:t>Document summarisation, information extraction, and semantic search in enterprise settings</a:t>
            </a:r>
          </a:p>
          <a:p>
            <a:pPr>
              <a:defRPr sz="1800"/>
            </a:pPr>
            <a:r>
              <a:t>Personalised tutoring, language learning, and automated assessment</a:t>
            </a:r>
          </a:p>
          <a:p>
            <a:pPr>
              <a:defRPr sz="1800"/>
            </a:pPr>
            <a:r>
              <a:t>Creative domains: story generation, design ideation, music lyric composition</a:t>
            </a:r>
          </a:p>
        </p:txBody>
      </p:sp>
      <p:pic>
        <p:nvPicPr>
          <p:cNvPr id="4" name="Picture 3" descr="image.jpg"/>
          <p:cNvPicPr>
            <a:picLocks noChangeAspect="1"/>
          </p:cNvPicPr>
          <p:nvPr/>
        </p:nvPicPr>
        <p:blipFill>
          <a:blip r:embed="rId2"/>
          <a:stretch>
            <a:fillRect/>
          </a:stretch>
        </p:blipFill>
        <p:spPr>
          <a:xfrm>
            <a:off x="5303520" y="1828800"/>
            <a:ext cx="3657600" cy="4876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&amp; Future Directions</a:t>
            </a:r>
          </a:p>
        </p:txBody>
      </p:sp>
      <p:sp>
        <p:nvSpPr>
          <p:cNvPr id="3" name="Content Placeholder 2"/>
          <p:cNvSpPr>
            <a:spLocks noGrp="1"/>
          </p:cNvSpPr>
          <p:nvPr>
            <p:ph idx="1"/>
          </p:nvPr>
        </p:nvSpPr>
        <p:spPr>
          <a:xfrm>
            <a:off x="457200" y="1828800"/>
            <a:ext cx="4572000" cy="0"/>
          </a:xfrm>
        </p:spPr>
        <p:txBody>
          <a:bodyPr wrap="square"/>
          <a:lstStyle/>
          <a:p/>
          <a:p>
            <a:pPr>
              <a:defRPr sz="1800"/>
            </a:pPr>
            <a:r>
              <a:t>Hallucination: generation of plausible but factually incorrect statements; mitigation via retrieval‑augmented generation</a:t>
            </a:r>
          </a:p>
          <a:p>
            <a:pPr>
              <a:defRPr sz="1800"/>
            </a:pPr>
            <a:r>
              <a:t>Bias &amp; fairness: systemic biases inherited from training data; need for debiasing techniques and diverse corpora</a:t>
            </a:r>
          </a:p>
          <a:p>
            <a:pPr>
              <a:defRPr sz="1800"/>
            </a:pPr>
            <a:r>
              <a:t>Security &amp; privacy: model leakage, prompt injection attacks, and compliance with data regulations</a:t>
            </a:r>
          </a:p>
          <a:p>
            <a:pPr>
              <a:defRPr sz="1800"/>
            </a:pPr>
            <a:r>
              <a:t>Multimodal reasoning: integrating vision, audio, and structured data to achieve true AI understanding</a:t>
            </a:r>
          </a:p>
          <a:p>
            <a:pPr>
              <a:defRPr sz="1800"/>
            </a:pPr>
            <a:r>
              <a:t>Efficiency: distillation, quantisation, and on‑device inference for greener, accessible AI</a:t>
            </a:r>
          </a:p>
        </p:txBody>
      </p:sp>
      <p:pic>
        <p:nvPicPr>
          <p:cNvPr id="4" name="Picture 3" descr="image.png"/>
          <p:cNvPicPr>
            <a:picLocks noChangeAspect="1"/>
          </p:cNvPicPr>
          <p:nvPr/>
        </p:nvPicPr>
        <p:blipFill>
          <a:blip r:embed="rId2"/>
          <a:stretch>
            <a:fillRect/>
          </a:stretch>
        </p:blipFill>
        <p:spPr>
          <a:xfrm>
            <a:off x="5303520" y="1828800"/>
            <a:ext cx="3657600" cy="4331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